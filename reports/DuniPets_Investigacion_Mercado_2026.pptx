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463040"/>
            <a:ext cx="73152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73736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E7D32"/>
                </a:solidFill>
              </a:rPr>
              <a:t>DuniPets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12121"/>
                </a:solidFill>
              </a:rPr>
              <a:t>Investigación de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290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Marketplace Premium de Cuidado de Mascotas · Bogotá, Colombia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160520"/>
            <a:ext cx="1463040" cy="27432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Junio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4160520"/>
            <a:ext cx="1463040" cy="27432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5 competidores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4160520"/>
            <a:ext cx="1737360" cy="27432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3 perfiles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9377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Cero jaulas · Entorno familiar · Paz mental para el dueño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Mapa Competitivo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D6A7"/>
                </a:solidFill>
              </a:rPr>
              <a:t>Quién está activo · Quién salió del mercado · Junio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COMPETIDORES ACTIVOS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4114800" cy="182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36192"/>
            <a:ext cx="658368" cy="2011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ACTIVO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5179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Dog Garden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Guardería física · 3 sedes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51790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</a:rPr>
              <a:t>Sin jaulas · Solo perros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01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Desde $35.000/día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86000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340864"/>
            <a:ext cx="658368" cy="2011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ACTIVO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225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Mywak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5603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App / 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32257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</a:rPr>
              <a:t>GPS + cuidadores certificados Cruz Roja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0662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No publicado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9067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145536"/>
            <a:ext cx="658368" cy="2011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ACTIVO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1272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Diverpool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364991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Centro integral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12724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</a:rPr>
              <a:t>Hotel + spa + vet + gatos en sede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511296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$40K–$80K/noche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95344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3950207"/>
            <a:ext cx="658368" cy="2011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ACTIVO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9319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Cruz Roja Bog.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169663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Guardería / Hotel físico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93192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</a:rPr>
              <a:t>20.000 m² · 15 años experiencia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1596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Desde $6.900/hora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00016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754880"/>
            <a:ext cx="658368" cy="2011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ACTIVO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7365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Tierra de Perros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497433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Hotel campestre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73659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</a:rPr>
              <a:t>Vía Choachi · Membresías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512064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No publicado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5C00"/>
                </a:solidFill>
              </a:rPr>
              <a:t>SALIERON DEL MERCADO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1371600"/>
            <a:ext cx="4114800" cy="18288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9160" y="1481328"/>
            <a:ext cx="4114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73168" y="1554480"/>
            <a:ext cx="804672" cy="201168"/>
          </a:xfrm>
          <a:prstGeom prst="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65C00"/>
                </a:solidFill>
              </a:rPr>
              <a:t>INACTIVO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0992" y="1527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Waggy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0992" y="17739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App / Marketplace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1956816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65C00"/>
                </a:solidFill>
              </a:rPr>
              <a:t>waggy.co redirige a atom.com · Abandonado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2395728"/>
            <a:ext cx="4114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73168" y="2468880"/>
            <a:ext cx="804672" cy="201168"/>
          </a:xfrm>
          <a:prstGeom prst="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65C00"/>
                </a:solidFill>
              </a:rPr>
              <a:t>INACTIVO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50992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DogHero Colombia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0992" y="26883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App / Marketplace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73168" y="2871216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65C00"/>
                </a:solidFill>
              </a:rPr>
              <a:t>Sin presencia web activa en Colombia desde 2020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9160" y="3429000"/>
            <a:ext cx="4114800" cy="1188720"/>
          </a:xfrm>
          <a:prstGeom prst="rect">
            <a:avLst/>
          </a:prstGeom>
          <a:solidFill>
            <a:srgbClr val="F1F8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35021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Insight clave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3767328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Los dos marketplaces de referencia (Waggy y DogHero) ya no operan en Colombia. El segmento de plataformas digitales de cuidado de mascotas en Bogotá está disponible — Mywak lo ocupa parcialmente sin comunicar calidad diferenciada.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6492240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</a:rPr>
              <a:t>DuniPets · Investigación de Mercado Bogotá · Junio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Benchmark de Precios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D6A7"/>
                </a:solidFill>
              </a:rPr>
              <a:t>Comparativo por servicio · Todos los precios en COP · Fuente: auditoría web junio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86868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7899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Servicio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39" y="1078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Dog Garden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078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Diverpool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078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Cruz Roja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078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Mywak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07899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DuniPets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417320"/>
            <a:ext cx="86868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1490472"/>
            <a:ext cx="1463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2121"/>
                </a:solidFill>
              </a:rPr>
              <a:t>Hospedaje
nocturno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9384" y="16184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Por consultar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16184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2121"/>
                </a:solidFill>
              </a:rPr>
              <a:t>$40K–$80K/n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3" y="16184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2121"/>
                </a:solidFill>
              </a:rPr>
              <a:t>Por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16184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publicado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161848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</a:rPr>
              <a:t>$47.500/noche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368296"/>
            <a:ext cx="8686800" cy="896112"/>
          </a:xfrm>
          <a:prstGeom prst="rect">
            <a:avLst/>
          </a:prstGeom>
          <a:solidFill>
            <a:srgbClr val="F4F9F4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2441448"/>
            <a:ext cx="1463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2121"/>
                </a:solidFill>
              </a:rPr>
              <a:t>Guardería
diurna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9384" y="256946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2121"/>
                </a:solidFill>
              </a:rPr>
              <a:t>Desde $35.000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9544" y="256946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Por consultar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3" y="256946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2121"/>
                </a:solidFill>
              </a:rPr>
              <a:t>$55.200 ~8h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256946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publicado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2569464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</a:rPr>
              <a:t>$35.000/día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319272"/>
            <a:ext cx="86868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3392424"/>
            <a:ext cx="1463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2121"/>
                </a:solidFill>
              </a:rPr>
              <a:t>Paseo 1 hora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9384" y="3520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2121"/>
                </a:solidFill>
              </a:rPr>
              <a:t>Incluido*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9544" y="3520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Por consultar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3" y="3520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aplica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9864" y="3520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publicado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35204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</a:rPr>
              <a:t>$13.500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270248"/>
            <a:ext cx="8686800" cy="896112"/>
          </a:xfrm>
          <a:prstGeom prst="rect">
            <a:avLst/>
          </a:prstGeom>
          <a:solidFill>
            <a:srgbClr val="F4F9F4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" y="4343400"/>
            <a:ext cx="1463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2121"/>
                </a:solidFill>
              </a:rPr>
              <a:t>Visita gatos
a domicilio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9384" y="447141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ofrece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9544" y="447141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ofrece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9703" y="447141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ofrece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9864" y="447141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Sin confirmar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0024" y="447141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</a:rPr>
              <a:t>$12.000–$18.000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5221224"/>
            <a:ext cx="86868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" y="5294376"/>
            <a:ext cx="1463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2121"/>
                </a:solidFill>
              </a:rPr>
              <a:t>House sitting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9384" y="542239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ofrece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9544" y="542239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ofrece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9703" y="542239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No ofrece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9864" y="542239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DBDBD"/>
                </a:solidFill>
              </a:rPr>
              <a:t>Sin confirmar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0024" y="542239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</a:rPr>
              <a:t>Por definir**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" y="621792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</a:rPr>
              <a:t>* En Dog Garden los paseos están incluidos dentro del servicio de guardería, no se venden por separado.  ** House sitting DuniPets: rango recomendado $65.000–$85.000/noche basado en referencias históricas.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" y="6492240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</a:rPr>
              <a:t>DuniPets · Investigación de Mercado Bogotá · Junio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Los 3 Gaps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D6A7"/>
                </a:solidFill>
              </a:rPr>
              <a:t>Oportunidades confirmadas por la auditoría de competidores · Junio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78992"/>
            <a:ext cx="2834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283464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71907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</a:rPr>
              <a:t>El mercado felino
está sin atender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248716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65C00"/>
                </a:solidFill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688336"/>
            <a:ext cx="2633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0 de 5 competidores activos ofrece visitas a domicilio para gatos. El gato necesita quedarse en su entorno; el mercado lo obliga a salir o a quedarse solo.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4114800"/>
            <a:ext cx="2615184" cy="182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418795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E7D32"/>
                </a:solidFill>
              </a:rPr>
              <a:t>CÓMO LO CAPITALIZA DUNIPETS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4389120"/>
            <a:ext cx="2633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DuniPets es el único jugador activo con visitas a domicilio para gatos en Bogotá. Precio de entrada $12.000 reduce barrera de primera prueba.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078992"/>
            <a:ext cx="2834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2968" y="1078992"/>
            <a:ext cx="283464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696" y="171907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</a:rPr>
              <a:t>"Sin jaulas" solo
en instalaciones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248716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65C00"/>
                </a:solidFill>
              </a:rPr>
              <a:t>EVIDENCIA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2696" y="2688336"/>
            <a:ext cx="2633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Dog Garden validó demanda con 3 sedes activas. Pero su modelo requiere traslado a sede física — solo cubre el norte de Bogotá.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4114800"/>
            <a:ext cx="2615184" cy="182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2696" y="418795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E7D32"/>
                </a:solidFill>
              </a:rPr>
              <a:t>CÓMO LO CAPITALIZA DUNIPETS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4389120"/>
            <a:ext cx="2633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"Hogar de verdad" es el paso siguiente: el cuidador recibe en su casa o se queda en la del cliente. Sin sedes fijas, cobertura distribuida por toda la ciudad.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078992"/>
            <a:ext cx="2834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078992"/>
            <a:ext cx="283464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171907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</a:rPr>
              <a:t>Precios opacos
en toda la industria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48716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65C00"/>
                </a:solidFill>
              </a:rPr>
              <a:t>EVIDENCIA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688336"/>
            <a:ext cx="2633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4 de 5 competidores activos no publican precios. La norma es "contáctenos por WhatsApp". Genera abandono y desconfianza.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4114800"/>
            <a:ext cx="2615184" cy="182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418795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E7D32"/>
                </a:solidFill>
              </a:rPr>
              <a:t>CÓMO LO CAPITALIZA DUNIPETS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4389120"/>
            <a:ext cx="2633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DuniPets publica tabla completa de precios desde el primer contacto. Transparencia como ventaja de conversión — el referente de precio del mercado.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6492240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</a:rPr>
              <a:t>DuniPets · Investigación de Mercado Bogotá · Junio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Los 3 Perfiles de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D6A7"/>
                </a:solidFill>
              </a:rPr>
              <a:t>Arquetipos prioritarios para Bogotá · Junio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78992"/>
            <a:ext cx="283464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2834640" cy="8046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1133856"/>
            <a:ext cx="658368" cy="2011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Gap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115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Valentina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 Viajera
con Gatos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956816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ZONA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139696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Chapinero / Teusaquillo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62432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MASCOTA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807208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1–2 gatos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291840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SERVICIO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474720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Visitas domicilio
+ House sitting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3959352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BARRERA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" y="414223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No sabe que el
servicio existe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4626864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CANAL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" y="4809744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Instagram · Grupos
Facebook de gatos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5294376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MENSAJE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5477256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</a:rPr>
              <a:t>"Tus gatos se quedan
en su hogar.
Nosotros vamos
donde ellos."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" y="596188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65C00"/>
                </a:solidFill>
              </a:rPr>
              <a:t>VALOR ANUAL 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" y="6144768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65C00"/>
                </a:solidFill>
              </a:rPr>
              <a:t>$700K–$1.05M / año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72968" y="1078992"/>
            <a:ext cx="283464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72968" y="1078992"/>
            <a:ext cx="2834640" cy="8046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82696" y="1133856"/>
            <a:ext cx="658368" cy="2011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Gap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5928" y="1115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Andrés / Camila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2696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El Ejecutivo
Viajero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2696" y="1956816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ZONA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2696" y="2139696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Usaquén / Chicó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82696" y="262432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MASCOTA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2696" y="2807208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Perro mediano-grande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2696" y="3291840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SERVICIO PRINCIPAL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82696" y="3474720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Hospedaje nocturno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2696" y="3959352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BARRERA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2696" y="414223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Mala experiencia
previa en kennel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82696" y="4626864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CANAL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82696" y="4809744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Recomendación
directa · Google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82696" y="5294376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MENSAJE CLAVE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82696" y="5477256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</a:rPr>
              <a:t>"Tu perro en un
hogar de verdad.
Fotos cada noche,
garantizado."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596188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65C00"/>
                </a:solidFill>
              </a:rPr>
              <a:t>VALOR ANUAL 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82696" y="6144768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65C00"/>
                </a:solidFill>
              </a:rPr>
              <a:t>$1.52M / año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8" y="1078992"/>
            <a:ext cx="283464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4768" y="1078992"/>
            <a:ext cx="2834640" cy="8046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4496" y="1133856"/>
            <a:ext cx="658368" cy="2011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7D32"/>
                </a:solidFill>
              </a:rPr>
              <a:t>Gap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1115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Daniela / Juan Felipe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4496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 Profesional
Agenda Llena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6" y="1956816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ZONA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54496" y="2139696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Suba / Cedritos / Chapinero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6" y="262432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MASCOTA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4496" y="2807208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Perro pequeño-mediano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54496" y="3291840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SERVICIO PRINCIPAL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54496" y="3474720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Guardería diurna
+ Paseos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54496" y="3959352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BARRERA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54496" y="414223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Fricción del proceso
de cotización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54496" y="4626864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CANAL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4496" y="4809744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12121"/>
                </a:solidFill>
              </a:rPr>
              <a:t>Instagram · TikTok
· WhatsApp edificio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54496" y="5294376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7D32"/>
                </a:solidFill>
              </a:rPr>
              <a:t>MENSAJE CLAVE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54496" y="5477256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</a:rPr>
              <a:t>"$13.500 el paseo.
Recogemos en
tu puerta. Reserva
en 2 minutos."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54496" y="596188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65C00"/>
                </a:solidFill>
              </a:rPr>
              <a:t>VALOR ANUAL EST.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54496" y="6144768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65C00"/>
                </a:solidFill>
              </a:rPr>
              <a:t>$1.3M–$3.4M / año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" y="6492240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</a:rPr>
              <a:t>DuniPets · Investigación de Mercado Bogotá · Junio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Posicionamiento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5D6A7"/>
                </a:solidFill>
              </a:rPr>
              <a:t>Recomendaciones basadas en la investigación · Junio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POSICIONAMIENTO RECOMENDADO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03520" cy="2743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3035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DuniPets es el servicio de cuidado de mascotas más confiable de Bogotá para dueños que no aceptan jaulas. Cuidamos perros y gatos en entornos domésticos — en el hogar de nuestros cuidadores o en el tuyo — con precios claros y cero sorpresas.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44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LOS TRES PILARES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46120"/>
            <a:ext cx="5303520" cy="512064"/>
          </a:xfrm>
          <a:prstGeom prst="rect">
            <a:avLst/>
          </a:prstGeom>
          <a:solidFill>
            <a:srgbClr val="F1F8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246120"/>
            <a:ext cx="73152" cy="5120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826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Cero jaulas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39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</a:rPr>
              <a:t>Siempre en un hogar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303520" cy="512064"/>
          </a:xfrm>
          <a:prstGeom prst="rect">
            <a:avLst/>
          </a:prstGeom>
          <a:solidFill>
            <a:srgbClr val="F1F8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840480"/>
            <a:ext cx="73152" cy="5120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770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Solo para mascotas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</a:rPr>
              <a:t>Perros y gatos · Juntos o separados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34840"/>
            <a:ext cx="5303520" cy="512064"/>
          </a:xfrm>
          <a:prstGeom prst="rect">
            <a:avLst/>
          </a:prstGeom>
          <a:solidFill>
            <a:srgbClr val="F1F8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434840"/>
            <a:ext cx="73152" cy="5120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714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Precio transparente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59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</a:rPr>
              <a:t>Publicado · Sin sorpresas · Sin WhatsApp previo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0972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5C00"/>
                </a:solidFill>
              </a:rPr>
              <a:t>PRÓXIMOS PASOS PRIORITARIOS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371600"/>
            <a:ext cx="3017520" cy="27432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1444752"/>
            <a:ext cx="301752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1888" y="1517904"/>
            <a:ext cx="594360" cy="201168"/>
          </a:xfrm>
          <a:prstGeom prst="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65C00"/>
                </a:solidFill>
              </a:rPr>
              <a:t>S1–2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1499616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</a:rPr>
              <a:t>Entrevistar 15 dueños de gatos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1956816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Validar Gap 1 con datos primarios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2414016"/>
            <a:ext cx="301752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61888" y="2487168"/>
            <a:ext cx="594360" cy="201168"/>
          </a:xfrm>
          <a:prstGeom prst="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65C00"/>
                </a:solidFill>
              </a:rPr>
              <a:t>S1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2468880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</a:rPr>
              <a:t>Mystery shopping Dog Garden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2926080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Mapear precios reales + experiencia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3383280"/>
            <a:ext cx="301752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1888" y="3456432"/>
            <a:ext cx="594360" cy="201168"/>
          </a:xfrm>
          <a:prstGeom prst="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65C00"/>
                </a:solidFill>
              </a:rPr>
              <a:t>S1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343814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</a:rPr>
              <a:t>Descargar Mywak y simular reserva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3895344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Obtener precios y evaluar UX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4352544"/>
            <a:ext cx="301752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61888" y="4425696"/>
            <a:ext cx="594360" cy="201168"/>
          </a:xfrm>
          <a:prstGeom prst="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65C00"/>
                </a:solidFill>
              </a:rPr>
              <a:t>S1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0256" y="4407407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</a:rPr>
              <a:t>Definir precio house sitting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1888" y="4864608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Completar tabla de precios DuniPets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5321808"/>
            <a:ext cx="301752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61888" y="5394960"/>
            <a:ext cx="594360" cy="201168"/>
          </a:xfrm>
          <a:prstGeom prst="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65C00"/>
                </a:solidFill>
              </a:rPr>
              <a:t>S3–4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0256" y="537667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</a:rPr>
              <a:t>Encuesta disposición a pagar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5833872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Validar sensibilidad por perfil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6492240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</a:rPr>
              <a:t>DuniPets · Investigación de Mercado Bogotá · 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